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7" r:id="rId3"/>
  </p:sldMasterIdLst>
  <p:notesMasterIdLst>
    <p:notesMasterId r:id="rId4"/>
  </p:notesMasterIdLst>
  <p:sldIdLst>
    <p:sldId id="256" r:id="rId5"/>
    <p:sldId id="257" r:id="rId6"/>
    <p:sldId id="258" r:id="rId7"/>
    <p:sldId id="259" r:id="rId8"/>
    <p:sldId id="260" r:id="rId9"/>
    <p:sldId id="261" r:id="rId10"/>
    <p:sldId id="262" r:id="rId11"/>
  </p:sldIdLst>
  <p:sldSz cy="8229600" cx="14630400"/>
  <p:notesSz cx="8229600" cy="14630400"/>
  <p:embeddedFontLst>
    <p:embeddedFont>
      <p:font typeface="Source Sans 3"/>
      <p:regular r:id="rId12"/>
      <p:bold r:id="rId13"/>
      <p:italic r:id="rId14"/>
      <p:boldItalic r:id="rId15"/>
    </p:embeddedFont>
    <p:embeddedFont>
      <p:font typeface="Source Serif 4"/>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SourceSans3-bold.fntdata"/><Relationship Id="rId12" Type="http://schemas.openxmlformats.org/officeDocument/2006/relationships/font" Target="fonts/SourceSans3-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SourceSans3-boldItalic.fntdata"/><Relationship Id="rId14" Type="http://schemas.openxmlformats.org/officeDocument/2006/relationships/font" Target="fonts/SourceSans3-italic.fntdata"/><Relationship Id="rId17" Type="http://schemas.openxmlformats.org/officeDocument/2006/relationships/font" Target="fonts/SourceSerif4-bold.fntdata"/><Relationship Id="rId16" Type="http://schemas.openxmlformats.org/officeDocument/2006/relationships/font" Target="fonts/SourceSerif4-regular.fntdata"/><Relationship Id="rId5" Type="http://schemas.openxmlformats.org/officeDocument/2006/relationships/slide" Target="slides/slide1.xml"/><Relationship Id="rId19" Type="http://schemas.openxmlformats.org/officeDocument/2006/relationships/font" Target="fonts/SourceSerif4-boldItalic.fntdata"/><Relationship Id="rId6" Type="http://schemas.openxmlformats.org/officeDocument/2006/relationships/slide" Target="slides/slide2.xml"/><Relationship Id="rId18" Type="http://schemas.openxmlformats.org/officeDocument/2006/relationships/font" Target="fonts/SourceSerif4-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 name="Google Shape;4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 name="Google Shape;4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 name="Google Shape;5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 name="Google Shape;6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 name="Google Shape;7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hyperlink" Target="https://gamma.app/?utm_source=made-with-gamma" TargetMode="External"/><Relationship Id="rId4" Type="http://schemas.openxmlformats.org/officeDocument/2006/relationships/image" Target="../media/image1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hyperlink" Target="https://gamma.app/?utm_source=made-with-gamma" TargetMode="External"/><Relationship Id="rId4" Type="http://schemas.openxmlformats.org/officeDocument/2006/relationships/image" Target="../media/image1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hyperlink" Target="https://gamma.app/?utm_source=made-with-gamma" TargetMode="External"/><Relationship Id="rId4" Type="http://schemas.openxmlformats.org/officeDocument/2006/relationships/image" Target="../media/image1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hyperlink" Target="https://gamma.app/?utm_source=made-with-gamma" TargetMode="External"/><Relationship Id="rId4" Type="http://schemas.openxmlformats.org/officeDocument/2006/relationships/image" Target="../media/image1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hyperlink" Target="https://gamma.app/?utm_source=made-with-gamma" TargetMode="External"/><Relationship Id="rId4" Type="http://schemas.openxmlformats.org/officeDocument/2006/relationships/image" Target="../media/image1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hyperlink" Target="https://gamma.app/?utm_source=made-with-gamma" TargetMode="External"/><Relationship Id="rId4"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hyperlink" Target="https://gamma.app/?utm_source=made-with-gamma" TargetMode="External"/><Relationship Id="rId4" Type="http://schemas.openxmlformats.org/officeDocument/2006/relationships/image" Target="../media/image1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hyperlink" Target="https://gamma.app/?utm_source=made-with-gamma" TargetMode="External"/><Relationship Id="rId4" Type="http://schemas.openxmlformats.org/officeDocument/2006/relationships/image" Target="../media/image1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pic>
        <p:nvPicPr>
          <p:cNvPr descr="preencoded.png" id="11" name="Google Shape;11;p2"/>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2" name="Google Shape;12;p2"/>
          <p:cNvSpPr/>
          <p:nvPr/>
        </p:nvSpPr>
        <p:spPr>
          <a:xfrm>
            <a:off x="0" y="0"/>
            <a:ext cx="14630400" cy="8229600"/>
          </a:xfrm>
          <a:prstGeom prst="rect">
            <a:avLst/>
          </a:prstGeom>
          <a:solidFill>
            <a:srgbClr val="FFFFFF">
              <a:alpha val="9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2">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4" name="Shape 14"/>
        <p:cNvGrpSpPr/>
        <p:nvPr/>
      </p:nvGrpSpPr>
      <p:grpSpPr>
        <a:xfrm>
          <a:off x="0" y="0"/>
          <a:ext cx="0" cy="0"/>
          <a:chOff x="0" y="0"/>
          <a:chExt cx="0" cy="0"/>
        </a:xfrm>
      </p:grpSpPr>
      <p:pic>
        <p:nvPicPr>
          <p:cNvPr descr="preencoded.png" id="15" name="Google Shape;15;p3"/>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6" name="Google Shape;16;p3"/>
          <p:cNvSpPr/>
          <p:nvPr/>
        </p:nvSpPr>
        <p:spPr>
          <a:xfrm>
            <a:off x="0" y="0"/>
            <a:ext cx="14630400" cy="8229600"/>
          </a:xfrm>
          <a:prstGeom prst="rect">
            <a:avLst/>
          </a:prstGeom>
          <a:solidFill>
            <a:srgbClr val="FFFFFF">
              <a:alpha val="9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3">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8" name="Shape 18"/>
        <p:cNvGrpSpPr/>
        <p:nvPr/>
      </p:nvGrpSpPr>
      <p:grpSpPr>
        <a:xfrm>
          <a:off x="0" y="0"/>
          <a:ext cx="0" cy="0"/>
          <a:chOff x="0" y="0"/>
          <a:chExt cx="0" cy="0"/>
        </a:xfrm>
      </p:grpSpPr>
      <p:pic>
        <p:nvPicPr>
          <p:cNvPr descr="preencoded.png" id="19" name="Google Shape;19;p4"/>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0" name="Google Shape;20;p4"/>
          <p:cNvSpPr/>
          <p:nvPr/>
        </p:nvSpPr>
        <p:spPr>
          <a:xfrm>
            <a:off x="0" y="0"/>
            <a:ext cx="14630400" cy="8229600"/>
          </a:xfrm>
          <a:prstGeom prst="rect">
            <a:avLst/>
          </a:prstGeom>
          <a:solidFill>
            <a:srgbClr val="FFFFFF">
              <a:alpha val="9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 name="Google Shape;21;p4">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2" name="Shape 22"/>
        <p:cNvGrpSpPr/>
        <p:nvPr/>
      </p:nvGrpSpPr>
      <p:grpSpPr>
        <a:xfrm>
          <a:off x="0" y="0"/>
          <a:ext cx="0" cy="0"/>
          <a:chOff x="0" y="0"/>
          <a:chExt cx="0" cy="0"/>
        </a:xfrm>
      </p:grpSpPr>
      <p:pic>
        <p:nvPicPr>
          <p:cNvPr descr="preencoded.png" id="23" name="Google Shape;23;p5"/>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4" name="Google Shape;24;p5"/>
          <p:cNvSpPr/>
          <p:nvPr/>
        </p:nvSpPr>
        <p:spPr>
          <a:xfrm>
            <a:off x="0" y="0"/>
            <a:ext cx="14630400" cy="8229600"/>
          </a:xfrm>
          <a:prstGeom prst="rect">
            <a:avLst/>
          </a:prstGeom>
          <a:solidFill>
            <a:srgbClr val="FFFFFF">
              <a:alpha val="9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 name="Google Shape;25;p5">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6" name="Shape 26"/>
        <p:cNvGrpSpPr/>
        <p:nvPr/>
      </p:nvGrpSpPr>
      <p:grpSpPr>
        <a:xfrm>
          <a:off x="0" y="0"/>
          <a:ext cx="0" cy="0"/>
          <a:chOff x="0" y="0"/>
          <a:chExt cx="0" cy="0"/>
        </a:xfrm>
      </p:grpSpPr>
      <p:pic>
        <p:nvPicPr>
          <p:cNvPr descr="preencoded.png" id="27" name="Google Shape;27;p6"/>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8" name="Google Shape;28;p6"/>
          <p:cNvSpPr/>
          <p:nvPr/>
        </p:nvSpPr>
        <p:spPr>
          <a:xfrm>
            <a:off x="0" y="0"/>
            <a:ext cx="14630400" cy="8229600"/>
          </a:xfrm>
          <a:prstGeom prst="rect">
            <a:avLst/>
          </a:prstGeom>
          <a:solidFill>
            <a:srgbClr val="FFFFFF">
              <a:alpha val="9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 name="Google Shape;29;p6">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30" name="Shape 30"/>
        <p:cNvGrpSpPr/>
        <p:nvPr/>
      </p:nvGrpSpPr>
      <p:grpSpPr>
        <a:xfrm>
          <a:off x="0" y="0"/>
          <a:ext cx="0" cy="0"/>
          <a:chOff x="0" y="0"/>
          <a:chExt cx="0" cy="0"/>
        </a:xfrm>
      </p:grpSpPr>
      <p:pic>
        <p:nvPicPr>
          <p:cNvPr descr="preencoded.png" id="31" name="Google Shape;31;p7"/>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2" name="Google Shape;32;p7"/>
          <p:cNvSpPr/>
          <p:nvPr/>
        </p:nvSpPr>
        <p:spPr>
          <a:xfrm>
            <a:off x="0" y="0"/>
            <a:ext cx="14630400" cy="8229600"/>
          </a:xfrm>
          <a:prstGeom prst="rect">
            <a:avLst/>
          </a:prstGeom>
          <a:solidFill>
            <a:srgbClr val="FFFFFF">
              <a:alpha val="9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7">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34" name="Shape 34"/>
        <p:cNvGrpSpPr/>
        <p:nvPr/>
      </p:nvGrpSpPr>
      <p:grpSpPr>
        <a:xfrm>
          <a:off x="0" y="0"/>
          <a:ext cx="0" cy="0"/>
          <a:chOff x="0" y="0"/>
          <a:chExt cx="0" cy="0"/>
        </a:xfrm>
      </p:grpSpPr>
      <p:pic>
        <p:nvPicPr>
          <p:cNvPr descr="preencoded.png" id="35" name="Google Shape;35;p8"/>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6" name="Google Shape;36;p8"/>
          <p:cNvSpPr/>
          <p:nvPr/>
        </p:nvSpPr>
        <p:spPr>
          <a:xfrm>
            <a:off x="0" y="0"/>
            <a:ext cx="14630400" cy="8229600"/>
          </a:xfrm>
          <a:prstGeom prst="rect">
            <a:avLst/>
          </a:prstGeom>
          <a:solidFill>
            <a:srgbClr val="FFFFFF">
              <a:alpha val="9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8">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8" name="Shape 38"/>
        <p:cNvGrpSpPr/>
        <p:nvPr/>
      </p:nvGrpSpPr>
      <p:grpSpPr>
        <a:xfrm>
          <a:off x="0" y="0"/>
          <a:ext cx="0" cy="0"/>
          <a:chOff x="0" y="0"/>
          <a:chExt cx="0" cy="0"/>
        </a:xfrm>
      </p:grpSpPr>
      <p:pic>
        <p:nvPicPr>
          <p:cNvPr descr="preencoded.png" id="39" name="Google Shape;39;p9"/>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0" name="Google Shape;40;p9"/>
          <p:cNvSpPr/>
          <p:nvPr/>
        </p:nvSpPr>
        <p:spPr>
          <a:xfrm>
            <a:off x="0" y="0"/>
            <a:ext cx="14630400" cy="8229600"/>
          </a:xfrm>
          <a:prstGeom prst="rect">
            <a:avLst/>
          </a:prstGeom>
          <a:solidFill>
            <a:srgbClr val="FFFFFF">
              <a:alpha val="9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 name="Google Shape;41;p9">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2" name="Shape 4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9.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3.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jpg"/><Relationship Id="rId5" Type="http://schemas.openxmlformats.org/officeDocument/2006/relationships/image" Target="../media/image1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8.jpg"/><Relationship Id="rId5" Type="http://schemas.openxmlformats.org/officeDocument/2006/relationships/image" Target="../media/image1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sp>
        <p:nvSpPr>
          <p:cNvPr id="48" name="Google Shape;48;p11"/>
          <p:cNvSpPr/>
          <p:nvPr/>
        </p:nvSpPr>
        <p:spPr>
          <a:xfrm>
            <a:off x="6324124" y="3410783"/>
            <a:ext cx="7468553" cy="140803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D73AD7"/>
              </a:buClr>
              <a:buSzPts val="4400"/>
              <a:buFont typeface="Source Serif 4"/>
              <a:buNone/>
            </a:pPr>
            <a:r>
              <a:rPr b="1" i="0" lang="en-US" sz="4400" u="none" cap="none" strike="noStrike">
                <a:solidFill>
                  <a:srgbClr val="D73AD7"/>
                </a:solidFill>
                <a:latin typeface="Source Serif 4"/>
                <a:ea typeface="Source Serif 4"/>
                <a:cs typeface="Source Serif 4"/>
                <a:sym typeface="Source Serif 4"/>
              </a:rPr>
              <a:t>Glossier: Designing Visibility and Belonging</a:t>
            </a:r>
            <a:endParaRPr b="1" i="0" sz="4400" u="none" cap="none" strike="noStrike"/>
          </a:p>
        </p:txBody>
      </p:sp>
      <p:pic>
        <p:nvPicPr>
          <p:cNvPr id="49" name="Google Shape;49;p11" title="Screenshot 2026-02-05 at 11.40.37 AM.png"/>
          <p:cNvPicPr preferRelativeResize="0"/>
          <p:nvPr/>
        </p:nvPicPr>
        <p:blipFill>
          <a:blip r:embed="rId3">
            <a:alphaModFix/>
          </a:blip>
          <a:stretch>
            <a:fillRect/>
          </a:stretch>
        </p:blipFill>
        <p:spPr>
          <a:xfrm>
            <a:off x="11620500" y="7486641"/>
            <a:ext cx="3009900" cy="742950"/>
          </a:xfrm>
          <a:prstGeom prst="rect">
            <a:avLst/>
          </a:prstGeom>
          <a:noFill/>
          <a:ln>
            <a:noFill/>
          </a:ln>
        </p:spPr>
      </p:pic>
      <p:pic>
        <p:nvPicPr>
          <p:cNvPr id="50" name="Google Shape;50;p11"/>
          <p:cNvPicPr preferRelativeResize="0"/>
          <p:nvPr/>
        </p:nvPicPr>
        <p:blipFill>
          <a:blip r:embed="rId4">
            <a:alphaModFix/>
          </a:blip>
          <a:stretch>
            <a:fillRect/>
          </a:stretch>
        </p:blipFill>
        <p:spPr>
          <a:xfrm>
            <a:off x="152400" y="152400"/>
            <a:ext cx="6019323" cy="75203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pic>
        <p:nvPicPr>
          <p:cNvPr descr="preencoded.png" id="56" name="Google Shape;56;p12"/>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57" name="Google Shape;57;p12"/>
          <p:cNvSpPr/>
          <p:nvPr/>
        </p:nvSpPr>
        <p:spPr>
          <a:xfrm>
            <a:off x="6324124" y="2369939"/>
            <a:ext cx="4505920" cy="563285"/>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D73AD7"/>
              </a:buClr>
              <a:buSzPts val="3500"/>
              <a:buFont typeface="Source Serif 4"/>
              <a:buNone/>
            </a:pPr>
            <a:r>
              <a:rPr b="1" i="0" lang="en-US" sz="3500" u="none" cap="none" strike="noStrike">
                <a:solidFill>
                  <a:srgbClr val="D73AD7"/>
                </a:solidFill>
                <a:latin typeface="Source Serif 4"/>
                <a:ea typeface="Source Serif 4"/>
                <a:cs typeface="Source Serif 4"/>
                <a:sym typeface="Source Serif 4"/>
              </a:rPr>
              <a:t>What Glossier Is</a:t>
            </a:r>
            <a:endParaRPr b="1" i="0" sz="3500" u="none" cap="none" strike="noStrike"/>
          </a:p>
        </p:txBody>
      </p:sp>
      <p:sp>
        <p:nvSpPr>
          <p:cNvPr id="58" name="Google Shape;58;p12"/>
          <p:cNvSpPr/>
          <p:nvPr/>
        </p:nvSpPr>
        <p:spPr>
          <a:xfrm>
            <a:off x="6324124" y="3292197"/>
            <a:ext cx="7468553" cy="1149072"/>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b="1" i="0" lang="en-US" sz="1850" u="none" cap="none" strike="noStrike">
                <a:solidFill>
                  <a:srgbClr val="272525"/>
                </a:solidFill>
                <a:latin typeface="Source Sans 3"/>
                <a:ea typeface="Source Sans 3"/>
                <a:cs typeface="Source Sans 3"/>
                <a:sym typeface="Source Sans 3"/>
              </a:rPr>
              <a:t>Glossier</a:t>
            </a:r>
            <a:r>
              <a:rPr b="0" i="0" lang="en-US" sz="1850" u="none" cap="none" strike="noStrike">
                <a:solidFill>
                  <a:srgbClr val="272525"/>
                </a:solidFill>
                <a:latin typeface="Source Sans 3"/>
                <a:ea typeface="Source Sans 3"/>
                <a:cs typeface="Source Sans 3"/>
                <a:sym typeface="Source Sans 3"/>
              </a:rPr>
              <a:t> is a beauty brand that built its identity less through traditional advertising and more through design choices that felt intentional, recognizable, and social.</a:t>
            </a:r>
            <a:endParaRPr b="0" i="0" sz="1850" u="none" cap="none" strike="noStrike"/>
          </a:p>
        </p:txBody>
      </p:sp>
      <p:sp>
        <p:nvSpPr>
          <p:cNvPr id="59" name="Google Shape;59;p12"/>
          <p:cNvSpPr/>
          <p:nvPr/>
        </p:nvSpPr>
        <p:spPr>
          <a:xfrm>
            <a:off x="6324124" y="4710470"/>
            <a:ext cx="7468553" cy="1149072"/>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b="0" i="0" lang="en-US" sz="1850" u="none" cap="none" strike="noStrike">
                <a:solidFill>
                  <a:srgbClr val="272525"/>
                </a:solidFill>
                <a:latin typeface="Source Sans 3"/>
                <a:ea typeface="Source Sans 3"/>
                <a:cs typeface="Source Sans 3"/>
                <a:sym typeface="Source Sans 3"/>
              </a:rPr>
              <a:t>It sells skincare and makeup, but the brand experience extends far beyond the products themselves. Glossier was designed to feel minimal, modern, and easy to recognize in everyday life.</a:t>
            </a:r>
            <a:endParaRPr b="0" i="0" sz="1850" u="none" cap="none" strike="noStrike"/>
          </a:p>
        </p:txBody>
      </p:sp>
      <p:pic>
        <p:nvPicPr>
          <p:cNvPr id="60" name="Google Shape;60;p12" title="Screenshot 2026-02-05 at 11.40.37 AM.png"/>
          <p:cNvPicPr preferRelativeResize="0"/>
          <p:nvPr/>
        </p:nvPicPr>
        <p:blipFill>
          <a:blip r:embed="rId4">
            <a:alphaModFix/>
          </a:blip>
          <a:stretch>
            <a:fillRect/>
          </a:stretch>
        </p:blipFill>
        <p:spPr>
          <a:xfrm>
            <a:off x="11620500" y="7486641"/>
            <a:ext cx="3009900" cy="7429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3"/>
          <p:cNvSpPr/>
          <p:nvPr/>
        </p:nvSpPr>
        <p:spPr>
          <a:xfrm>
            <a:off x="712946" y="3581400"/>
            <a:ext cx="13204508" cy="95869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D73AD7"/>
              </a:buClr>
              <a:buSzPts val="3000"/>
              <a:buFont typeface="Source Serif 4"/>
              <a:buNone/>
            </a:pPr>
            <a:r>
              <a:rPr b="1" i="0" lang="en-US" sz="3000" u="none" cap="none" strike="noStrike">
                <a:solidFill>
                  <a:srgbClr val="D73AD7"/>
                </a:solidFill>
                <a:latin typeface="Source Serif 4"/>
                <a:ea typeface="Source Serif 4"/>
                <a:cs typeface="Source Serif 4"/>
                <a:sym typeface="Source Serif 4"/>
              </a:rPr>
              <a:t>Creative Decision #1: Choosing to Look Different From Every Other Beauty Brand</a:t>
            </a:r>
            <a:endParaRPr b="1" i="0" sz="3000" u="none" cap="none" strike="noStrike"/>
          </a:p>
        </p:txBody>
      </p:sp>
      <p:sp>
        <p:nvSpPr>
          <p:cNvPr id="67" name="Google Shape;67;p13"/>
          <p:cNvSpPr/>
          <p:nvPr/>
        </p:nvSpPr>
        <p:spPr>
          <a:xfrm>
            <a:off x="712946" y="4800124"/>
            <a:ext cx="13204508" cy="301585"/>
          </a:xfrm>
          <a:prstGeom prst="rect">
            <a:avLst/>
          </a:prstGeom>
          <a:noFill/>
          <a:ln>
            <a:noFill/>
          </a:ln>
        </p:spPr>
        <p:txBody>
          <a:bodyPr anchorCtr="0" anchor="t" bIns="0" lIns="0" spcFirstLastPara="1" rIns="0" wrap="square" tIns="0">
            <a:noAutofit/>
          </a:bodyPr>
          <a:lstStyle/>
          <a:p>
            <a:pPr indent="0" lvl="0" marL="0" marR="0" rtl="0" algn="l">
              <a:lnSpc>
                <a:spcPct val="146875"/>
              </a:lnSpc>
              <a:spcBef>
                <a:spcPts val="0"/>
              </a:spcBef>
              <a:spcAft>
                <a:spcPts val="0"/>
              </a:spcAft>
              <a:buClr>
                <a:srgbClr val="272525"/>
              </a:buClr>
              <a:buSzPts val="1600"/>
              <a:buFont typeface="Source Sans 3"/>
              <a:buNone/>
            </a:pPr>
            <a:r>
              <a:rPr b="0" i="0" lang="en-US" sz="1600" u="none" cap="none" strike="noStrike">
                <a:solidFill>
                  <a:srgbClr val="272525"/>
                </a:solidFill>
                <a:latin typeface="Source Sans 3"/>
                <a:ea typeface="Source Sans 3"/>
                <a:cs typeface="Source Sans 3"/>
                <a:sym typeface="Source Sans 3"/>
              </a:rPr>
              <a:t>One of Glossier's most important creative decisions was to </a:t>
            </a:r>
            <a:r>
              <a:rPr b="1" i="0" lang="en-US" sz="1600" u="none" cap="none" strike="noStrike">
                <a:solidFill>
                  <a:srgbClr val="272525"/>
                </a:solidFill>
                <a:latin typeface="Source Sans 3"/>
                <a:ea typeface="Source Sans 3"/>
                <a:cs typeface="Source Sans 3"/>
                <a:sym typeface="Source Sans 3"/>
              </a:rPr>
              <a:t>intentionally not look like other beauty brands</a:t>
            </a:r>
            <a:r>
              <a:rPr b="0" i="0" lang="en-US" sz="1600" u="none" cap="none" strike="noStrike">
                <a:solidFill>
                  <a:srgbClr val="272525"/>
                </a:solidFill>
                <a:latin typeface="Source Sans 3"/>
                <a:ea typeface="Source Sans 3"/>
                <a:cs typeface="Source Sans 3"/>
                <a:sym typeface="Source Sans 3"/>
              </a:rPr>
              <a:t>.</a:t>
            </a:r>
            <a:endParaRPr b="0" i="0" sz="1600" u="none" cap="none" strike="noStrike"/>
          </a:p>
        </p:txBody>
      </p:sp>
      <p:sp>
        <p:nvSpPr>
          <p:cNvPr id="68" name="Google Shape;68;p13"/>
          <p:cNvSpPr/>
          <p:nvPr/>
        </p:nvSpPr>
        <p:spPr>
          <a:xfrm>
            <a:off x="712946" y="5296733"/>
            <a:ext cx="13204508" cy="603171"/>
          </a:xfrm>
          <a:prstGeom prst="rect">
            <a:avLst/>
          </a:prstGeom>
          <a:noFill/>
          <a:ln>
            <a:noFill/>
          </a:ln>
        </p:spPr>
        <p:txBody>
          <a:bodyPr anchorCtr="0" anchor="t" bIns="0" lIns="0" spcFirstLastPara="1" rIns="0" wrap="square" tIns="0">
            <a:noAutofit/>
          </a:bodyPr>
          <a:lstStyle/>
          <a:p>
            <a:pPr indent="0" lvl="0" marL="0" marR="0" rtl="0" algn="l">
              <a:lnSpc>
                <a:spcPct val="146875"/>
              </a:lnSpc>
              <a:spcBef>
                <a:spcPts val="0"/>
              </a:spcBef>
              <a:spcAft>
                <a:spcPts val="0"/>
              </a:spcAft>
              <a:buClr>
                <a:srgbClr val="272525"/>
              </a:buClr>
              <a:buSzPts val="1600"/>
              <a:buFont typeface="Source Sans 3"/>
              <a:buNone/>
            </a:pPr>
            <a:r>
              <a:rPr b="0" i="0" lang="en-US" sz="1600" u="none" cap="none" strike="noStrike">
                <a:solidFill>
                  <a:srgbClr val="272525"/>
                </a:solidFill>
                <a:latin typeface="Source Sans 3"/>
                <a:ea typeface="Source Sans 3"/>
                <a:cs typeface="Source Sans 3"/>
                <a:sym typeface="Source Sans 3"/>
              </a:rPr>
              <a:t>At the time, most makeup packaging was dark, glossy, and very "luxury." Glossier went in the opposite direction. Their products were minimal, soft, and almost utilitarian. Some of the lip glosses even resembled small paint tubes rather than traditional cosmetics.</a:t>
            </a:r>
            <a:endParaRPr b="0" i="0" sz="1600" u="none" cap="none" strike="noStrike"/>
          </a:p>
        </p:txBody>
      </p:sp>
      <p:sp>
        <p:nvSpPr>
          <p:cNvPr id="69" name="Google Shape;69;p13"/>
          <p:cNvSpPr/>
          <p:nvPr/>
        </p:nvSpPr>
        <p:spPr>
          <a:xfrm>
            <a:off x="712946" y="6094928"/>
            <a:ext cx="13204508" cy="603171"/>
          </a:xfrm>
          <a:prstGeom prst="rect">
            <a:avLst/>
          </a:prstGeom>
          <a:noFill/>
          <a:ln>
            <a:noFill/>
          </a:ln>
        </p:spPr>
        <p:txBody>
          <a:bodyPr anchorCtr="0" anchor="t" bIns="0" lIns="0" spcFirstLastPara="1" rIns="0" wrap="square" tIns="0">
            <a:noAutofit/>
          </a:bodyPr>
          <a:lstStyle/>
          <a:p>
            <a:pPr indent="0" lvl="0" marL="0" marR="0" rtl="0" algn="l">
              <a:lnSpc>
                <a:spcPct val="146875"/>
              </a:lnSpc>
              <a:spcBef>
                <a:spcPts val="0"/>
              </a:spcBef>
              <a:spcAft>
                <a:spcPts val="0"/>
              </a:spcAft>
              <a:buClr>
                <a:srgbClr val="272525"/>
              </a:buClr>
              <a:buSzPts val="1600"/>
              <a:buFont typeface="Source Sans 3"/>
              <a:buNone/>
            </a:pPr>
            <a:r>
              <a:rPr b="0" i="0" lang="en-US" sz="1600" u="none" cap="none" strike="noStrike">
                <a:solidFill>
                  <a:srgbClr val="272525"/>
                </a:solidFill>
                <a:latin typeface="Source Sans 3"/>
                <a:ea typeface="Source Sans 3"/>
                <a:cs typeface="Source Sans 3"/>
                <a:sym typeface="Source Sans 3"/>
              </a:rPr>
              <a:t>The opportunity here was standing out in a crowded market where everything looked the same. The constraint was making minimal design still feel premium and intentional.</a:t>
            </a:r>
            <a:endParaRPr b="0" i="0" sz="1600" u="none" cap="none" strike="noStrike"/>
          </a:p>
        </p:txBody>
      </p:sp>
      <p:sp>
        <p:nvSpPr>
          <p:cNvPr id="70" name="Google Shape;70;p13"/>
          <p:cNvSpPr/>
          <p:nvPr/>
        </p:nvSpPr>
        <p:spPr>
          <a:xfrm>
            <a:off x="712946" y="6893123"/>
            <a:ext cx="13204508" cy="301585"/>
          </a:xfrm>
          <a:prstGeom prst="rect">
            <a:avLst/>
          </a:prstGeom>
          <a:noFill/>
          <a:ln>
            <a:noFill/>
          </a:ln>
        </p:spPr>
        <p:txBody>
          <a:bodyPr anchorCtr="0" anchor="t" bIns="0" lIns="0" spcFirstLastPara="1" rIns="0" wrap="square" tIns="0">
            <a:noAutofit/>
          </a:bodyPr>
          <a:lstStyle/>
          <a:p>
            <a:pPr indent="0" lvl="0" marL="0" marR="0" rtl="0" algn="l">
              <a:lnSpc>
                <a:spcPct val="146875"/>
              </a:lnSpc>
              <a:spcBef>
                <a:spcPts val="0"/>
              </a:spcBef>
              <a:spcAft>
                <a:spcPts val="0"/>
              </a:spcAft>
              <a:buClr>
                <a:srgbClr val="272525"/>
              </a:buClr>
              <a:buSzPts val="1600"/>
              <a:buFont typeface="Source Sans 3"/>
              <a:buNone/>
            </a:pPr>
            <a:r>
              <a:rPr b="0" i="0" lang="en-US" sz="1600" u="none" cap="none" strike="noStrike">
                <a:solidFill>
                  <a:srgbClr val="272525"/>
                </a:solidFill>
                <a:latin typeface="Source Sans 3"/>
                <a:ea typeface="Source Sans 3"/>
                <a:cs typeface="Source Sans 3"/>
                <a:sym typeface="Source Sans 3"/>
              </a:rPr>
              <a:t>This decision was necessary because it visually communicated Glossier's core message: beauty should feel approachable, creative, and part of everyday life.</a:t>
            </a:r>
            <a:endParaRPr b="0" i="0" sz="1600" u="none" cap="none" strike="noStrike"/>
          </a:p>
        </p:txBody>
      </p:sp>
      <p:pic>
        <p:nvPicPr>
          <p:cNvPr id="71" name="Google Shape;71;p13" title="Screenshot 2026-02-05 at 11.40.37 AM.png"/>
          <p:cNvPicPr preferRelativeResize="0"/>
          <p:nvPr/>
        </p:nvPicPr>
        <p:blipFill>
          <a:blip r:embed="rId3">
            <a:alphaModFix/>
          </a:blip>
          <a:stretch>
            <a:fillRect/>
          </a:stretch>
        </p:blipFill>
        <p:spPr>
          <a:xfrm>
            <a:off x="11620500" y="7486641"/>
            <a:ext cx="3009900" cy="742950"/>
          </a:xfrm>
          <a:prstGeom prst="rect">
            <a:avLst/>
          </a:prstGeom>
          <a:noFill/>
          <a:ln>
            <a:noFill/>
          </a:ln>
        </p:spPr>
      </p:pic>
      <p:pic>
        <p:nvPicPr>
          <p:cNvPr id="72" name="Google Shape;72;p13" title="images.jpg"/>
          <p:cNvPicPr preferRelativeResize="0"/>
          <p:nvPr/>
        </p:nvPicPr>
        <p:blipFill>
          <a:blip r:embed="rId4">
            <a:alphaModFix/>
          </a:blip>
          <a:stretch>
            <a:fillRect/>
          </a:stretch>
        </p:blipFill>
        <p:spPr>
          <a:xfrm>
            <a:off x="466800" y="118263"/>
            <a:ext cx="4507950" cy="2999825"/>
          </a:xfrm>
          <a:prstGeom prst="rect">
            <a:avLst/>
          </a:prstGeom>
          <a:noFill/>
          <a:ln>
            <a:noFill/>
          </a:ln>
        </p:spPr>
      </p:pic>
      <p:pic>
        <p:nvPicPr>
          <p:cNvPr id="73" name="Google Shape;73;p13" title="download.jpg"/>
          <p:cNvPicPr preferRelativeResize="0"/>
          <p:nvPr/>
        </p:nvPicPr>
        <p:blipFill>
          <a:blip r:embed="rId5">
            <a:alphaModFix/>
          </a:blip>
          <a:stretch>
            <a:fillRect/>
          </a:stretch>
        </p:blipFill>
        <p:spPr>
          <a:xfrm>
            <a:off x="10309700" y="0"/>
            <a:ext cx="4320700" cy="32363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4"/>
          <p:cNvSpPr/>
          <p:nvPr/>
        </p:nvSpPr>
        <p:spPr>
          <a:xfrm>
            <a:off x="6324124" y="861536"/>
            <a:ext cx="7468553" cy="1126569"/>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D73AD7"/>
              </a:buClr>
              <a:buSzPts val="3500"/>
              <a:buFont typeface="Source Serif 4"/>
              <a:buNone/>
            </a:pPr>
            <a:r>
              <a:rPr b="1" i="0" lang="en-US" sz="3500" u="none" cap="none" strike="noStrike">
                <a:solidFill>
                  <a:srgbClr val="D73AD7"/>
                </a:solidFill>
                <a:latin typeface="Source Serif 4"/>
                <a:ea typeface="Source Serif 4"/>
                <a:cs typeface="Source Serif 4"/>
                <a:sym typeface="Source Serif 4"/>
              </a:rPr>
              <a:t>Creative Decision #2: Separating the Store From the Signal</a:t>
            </a:r>
            <a:endParaRPr b="1" i="0" sz="3500" u="none" cap="none" strike="noStrike"/>
          </a:p>
        </p:txBody>
      </p:sp>
      <p:sp>
        <p:nvSpPr>
          <p:cNvPr id="80" name="Google Shape;80;p14"/>
          <p:cNvSpPr/>
          <p:nvPr/>
        </p:nvSpPr>
        <p:spPr>
          <a:xfrm>
            <a:off x="6324124" y="2347079"/>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b="0" i="0" lang="en-US" sz="1850" u="none" cap="none" strike="noStrike">
                <a:solidFill>
                  <a:srgbClr val="272525"/>
                </a:solidFill>
                <a:latin typeface="Source Sans 3"/>
                <a:ea typeface="Source Sans 3"/>
                <a:cs typeface="Source Sans 3"/>
                <a:sym typeface="Source Sans 3"/>
              </a:rPr>
              <a:t>A really interesting design decision Glossier made was </a:t>
            </a:r>
            <a:r>
              <a:rPr b="1" i="0" lang="en-US" sz="1850" u="none" cap="none" strike="noStrike">
                <a:solidFill>
                  <a:srgbClr val="272525"/>
                </a:solidFill>
                <a:latin typeface="Source Sans 3"/>
                <a:ea typeface="Source Sans 3"/>
                <a:cs typeface="Source Sans 3"/>
                <a:sym typeface="Source Sans 3"/>
              </a:rPr>
              <a:t>not</a:t>
            </a:r>
            <a:r>
              <a:rPr b="0" i="0" lang="en-US" sz="1850" u="none" cap="none" strike="noStrike">
                <a:solidFill>
                  <a:srgbClr val="272525"/>
                </a:solidFill>
                <a:latin typeface="Source Sans 3"/>
                <a:ea typeface="Source Sans 3"/>
                <a:cs typeface="Source Sans 3"/>
                <a:sym typeface="Source Sans 3"/>
              </a:rPr>
              <a:t> making the pop-up storefront itself loud or colorful.</a:t>
            </a:r>
            <a:endParaRPr b="0" i="0" sz="1850" u="none" cap="none" strike="noStrike"/>
          </a:p>
        </p:txBody>
      </p:sp>
      <p:sp>
        <p:nvSpPr>
          <p:cNvPr id="81" name="Google Shape;81;p14"/>
          <p:cNvSpPr/>
          <p:nvPr/>
        </p:nvSpPr>
        <p:spPr>
          <a:xfrm>
            <a:off x="6324124" y="3382328"/>
            <a:ext cx="7468553" cy="1149072"/>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b="0" i="0" lang="en-US" sz="1850" u="none" cap="none" strike="noStrike">
                <a:solidFill>
                  <a:srgbClr val="272525"/>
                </a:solidFill>
                <a:latin typeface="Source Sans 3"/>
                <a:ea typeface="Source Sans 3"/>
                <a:cs typeface="Source Sans 3"/>
                <a:sym typeface="Source Sans 3"/>
              </a:rPr>
              <a:t>Most Glossier pop-ups were actually minimalistic — white exteriors with a simple black text logo. Instead of using the building as the attention-grabber, Glossier used </a:t>
            </a:r>
            <a:r>
              <a:rPr b="1" i="0" lang="en-US" sz="1850" u="none" cap="none" strike="noStrike">
                <a:solidFill>
                  <a:srgbClr val="272525"/>
                </a:solidFill>
                <a:latin typeface="Source Sans 3"/>
                <a:ea typeface="Source Sans 3"/>
                <a:cs typeface="Source Sans 3"/>
                <a:sym typeface="Source Sans 3"/>
              </a:rPr>
              <a:t>the bags</a:t>
            </a:r>
            <a:r>
              <a:rPr b="0" i="0" lang="en-US" sz="1850" u="none" cap="none" strike="noStrike">
                <a:solidFill>
                  <a:srgbClr val="272525"/>
                </a:solidFill>
                <a:latin typeface="Source Sans 3"/>
                <a:ea typeface="Source Sans 3"/>
                <a:cs typeface="Source Sans 3"/>
                <a:sym typeface="Source Sans 3"/>
              </a:rPr>
              <a:t> as the visual signal.</a:t>
            </a:r>
            <a:endParaRPr b="0" i="0" sz="1850" u="none" cap="none" strike="noStrike"/>
          </a:p>
        </p:txBody>
      </p:sp>
      <p:sp>
        <p:nvSpPr>
          <p:cNvPr id="82" name="Google Shape;82;p14"/>
          <p:cNvSpPr/>
          <p:nvPr/>
        </p:nvSpPr>
        <p:spPr>
          <a:xfrm>
            <a:off x="6324124" y="4800600"/>
            <a:ext cx="7468553" cy="1149072"/>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b="0" i="0" lang="en-US" sz="1850" u="none" cap="none" strike="noStrike">
                <a:solidFill>
                  <a:srgbClr val="272525"/>
                </a:solidFill>
                <a:latin typeface="Source Sans 3"/>
                <a:ea typeface="Source Sans 3"/>
                <a:cs typeface="Source Sans 3"/>
                <a:sym typeface="Source Sans 3"/>
              </a:rPr>
              <a:t>The opportunity was creating visibility without disrupting the brand's clean aesthetic. The constraint was that pop-ups were temporary and couldn't rely on heavy signage or permanent structures.</a:t>
            </a:r>
            <a:endParaRPr b="0" i="0" sz="1850" u="none" cap="none" strike="noStrike"/>
          </a:p>
        </p:txBody>
      </p:sp>
      <p:sp>
        <p:nvSpPr>
          <p:cNvPr id="83" name="Google Shape;83;p14"/>
          <p:cNvSpPr/>
          <p:nvPr/>
        </p:nvSpPr>
        <p:spPr>
          <a:xfrm>
            <a:off x="6324124" y="6218873"/>
            <a:ext cx="7468553" cy="1149072"/>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b="0" i="0" lang="en-US" sz="1850" u="none" cap="none" strike="noStrike">
                <a:solidFill>
                  <a:srgbClr val="272525"/>
                </a:solidFill>
                <a:latin typeface="Source Sans 3"/>
                <a:ea typeface="Source Sans 3"/>
                <a:cs typeface="Source Sans 3"/>
                <a:sym typeface="Source Sans 3"/>
              </a:rPr>
              <a:t>This decision meant that you didn't notice Glossier because of a bright storefront — you noticed it because people were walking around the city carrying </a:t>
            </a:r>
            <a:r>
              <a:rPr b="1" lang="en-US" sz="1850">
                <a:solidFill>
                  <a:srgbClr val="272525"/>
                </a:solidFill>
                <a:latin typeface="Source Sans 3"/>
                <a:ea typeface="Source Sans 3"/>
                <a:cs typeface="Source Sans 3"/>
                <a:sym typeface="Source Sans 3"/>
              </a:rPr>
              <a:t>millenial</a:t>
            </a:r>
            <a:r>
              <a:rPr b="1" i="0" lang="en-US" sz="1850" u="none" cap="none" strike="noStrike">
                <a:solidFill>
                  <a:srgbClr val="272525"/>
                </a:solidFill>
                <a:latin typeface="Source Sans 3"/>
                <a:ea typeface="Source Sans 3"/>
                <a:cs typeface="Source Sans 3"/>
                <a:sym typeface="Source Sans 3"/>
              </a:rPr>
              <a:t> pink bags</a:t>
            </a:r>
            <a:r>
              <a:rPr b="0" i="0" lang="en-US" sz="1850" u="none" cap="none" strike="noStrike">
                <a:solidFill>
                  <a:srgbClr val="272525"/>
                </a:solidFill>
                <a:latin typeface="Source Sans 3"/>
                <a:ea typeface="Source Sans 3"/>
                <a:cs typeface="Source Sans 3"/>
                <a:sym typeface="Source Sans 3"/>
              </a:rPr>
              <a:t>.</a:t>
            </a:r>
            <a:endParaRPr b="0" i="0" sz="1850" u="none" cap="none" strike="noStrike"/>
          </a:p>
        </p:txBody>
      </p:sp>
      <p:pic>
        <p:nvPicPr>
          <p:cNvPr id="84" name="Google Shape;84;p14" title="Screenshot 2026-02-05 at 11.40.37 AM.png"/>
          <p:cNvPicPr preferRelativeResize="0"/>
          <p:nvPr/>
        </p:nvPicPr>
        <p:blipFill>
          <a:blip r:embed="rId3">
            <a:alphaModFix/>
          </a:blip>
          <a:stretch>
            <a:fillRect/>
          </a:stretch>
        </p:blipFill>
        <p:spPr>
          <a:xfrm>
            <a:off x="11620500" y="7486641"/>
            <a:ext cx="3009900" cy="742950"/>
          </a:xfrm>
          <a:prstGeom prst="rect">
            <a:avLst/>
          </a:prstGeom>
          <a:noFill/>
          <a:ln>
            <a:noFill/>
          </a:ln>
        </p:spPr>
      </p:pic>
      <p:pic>
        <p:nvPicPr>
          <p:cNvPr id="85" name="Google Shape;85;p14"/>
          <p:cNvPicPr preferRelativeResize="0"/>
          <p:nvPr/>
        </p:nvPicPr>
        <p:blipFill>
          <a:blip r:embed="rId4">
            <a:alphaModFix/>
          </a:blip>
          <a:stretch>
            <a:fillRect/>
          </a:stretch>
        </p:blipFill>
        <p:spPr>
          <a:xfrm>
            <a:off x="0" y="0"/>
            <a:ext cx="4626842" cy="82295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5"/>
          <p:cNvSpPr/>
          <p:nvPr/>
        </p:nvSpPr>
        <p:spPr>
          <a:xfrm>
            <a:off x="6324124" y="1436132"/>
            <a:ext cx="7468553" cy="1126569"/>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D73AD7"/>
              </a:buClr>
              <a:buSzPts val="3500"/>
              <a:buFont typeface="Source Serif 4"/>
              <a:buNone/>
            </a:pPr>
            <a:r>
              <a:rPr b="1" i="0" lang="en-US" sz="3500" u="none" cap="none" strike="noStrike">
                <a:solidFill>
                  <a:srgbClr val="D73AD7"/>
                </a:solidFill>
                <a:latin typeface="Source Serif 4"/>
                <a:ea typeface="Source Serif 4"/>
                <a:cs typeface="Source Serif 4"/>
                <a:sym typeface="Source Serif 4"/>
              </a:rPr>
              <a:t>Creative Decision #3: </a:t>
            </a:r>
            <a:r>
              <a:rPr b="1" lang="en-US" sz="3500">
                <a:solidFill>
                  <a:srgbClr val="D73AD7"/>
                </a:solidFill>
                <a:latin typeface="Source Serif 4"/>
                <a:ea typeface="Source Serif 4"/>
                <a:cs typeface="Source Serif 4"/>
                <a:sym typeface="Source Serif 4"/>
              </a:rPr>
              <a:t>Ownership as belonging</a:t>
            </a:r>
            <a:endParaRPr b="1" i="0" sz="3500" u="none" cap="none" strike="noStrike"/>
          </a:p>
        </p:txBody>
      </p:sp>
      <p:sp>
        <p:nvSpPr>
          <p:cNvPr id="92" name="Google Shape;92;p15"/>
          <p:cNvSpPr/>
          <p:nvPr/>
        </p:nvSpPr>
        <p:spPr>
          <a:xfrm>
            <a:off x="6324124" y="2921675"/>
            <a:ext cx="7468553"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b="0" i="0" lang="en-US" sz="1850" u="none" cap="none" strike="noStrike">
                <a:solidFill>
                  <a:srgbClr val="272525"/>
                </a:solidFill>
                <a:latin typeface="Source Sans 3"/>
                <a:ea typeface="Source Sans 3"/>
                <a:cs typeface="Source Sans 3"/>
                <a:sym typeface="Source Sans 3"/>
              </a:rPr>
              <a:t>The pink bags became a moving advertisement and a social signal.</a:t>
            </a:r>
            <a:endParaRPr b="0" i="0" sz="1850" u="none" cap="none" strike="noStrike"/>
          </a:p>
        </p:txBody>
      </p:sp>
      <p:sp>
        <p:nvSpPr>
          <p:cNvPr id="93" name="Google Shape;93;p15"/>
          <p:cNvSpPr/>
          <p:nvPr/>
        </p:nvSpPr>
        <p:spPr>
          <a:xfrm>
            <a:off x="6324124" y="3573899"/>
            <a:ext cx="7468553" cy="1149072"/>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lang="en-US" sz="1850">
                <a:solidFill>
                  <a:srgbClr val="272525"/>
                </a:solidFill>
                <a:latin typeface="Source Sans 3"/>
                <a:ea typeface="Source Sans 3"/>
                <a:cs typeface="Source Sans 3"/>
                <a:sym typeface="Source Sans 3"/>
              </a:rPr>
              <a:t>At any school, any gym, any youtubers video– there was this bag carrying just about anything. People put pencils in it, makeup as it was intended, or even used it as a purse</a:t>
            </a:r>
            <a:endParaRPr b="0" i="0" sz="1850" u="none" cap="none" strike="noStrike"/>
          </a:p>
        </p:txBody>
      </p:sp>
      <p:sp>
        <p:nvSpPr>
          <p:cNvPr id="94" name="Google Shape;94;p15"/>
          <p:cNvSpPr/>
          <p:nvPr/>
        </p:nvSpPr>
        <p:spPr>
          <a:xfrm>
            <a:off x="6324124" y="4992172"/>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b="0" i="0" lang="en-US" sz="1850" u="none" cap="none" strike="noStrike">
                <a:solidFill>
                  <a:srgbClr val="272525"/>
                </a:solidFill>
                <a:latin typeface="Source Sans 3"/>
                <a:ea typeface="Source Sans 3"/>
                <a:cs typeface="Source Sans 3"/>
                <a:sym typeface="Source Sans 3"/>
              </a:rPr>
              <a:t>The opportunity was turning customers into brand visibility. The constraint was that the packaging still had to be functional, reusable, and affordable.</a:t>
            </a:r>
            <a:endParaRPr b="0" i="0" sz="1850" u="none" cap="none" strike="noStrike"/>
          </a:p>
        </p:txBody>
      </p:sp>
      <p:sp>
        <p:nvSpPr>
          <p:cNvPr id="95" name="Google Shape;95;p15"/>
          <p:cNvSpPr/>
          <p:nvPr/>
        </p:nvSpPr>
        <p:spPr>
          <a:xfrm>
            <a:off x="6324124" y="6027420"/>
            <a:ext cx="7468553"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b="0" i="0" lang="en-US" sz="1850" u="none" cap="none" strike="noStrike">
                <a:solidFill>
                  <a:srgbClr val="272525"/>
                </a:solidFill>
                <a:latin typeface="Source Sans 3"/>
                <a:ea typeface="Source Sans 3"/>
                <a:cs typeface="Source Sans 3"/>
                <a:sym typeface="Source Sans 3"/>
              </a:rPr>
              <a:t>This decision made the brand visible </a:t>
            </a:r>
            <a:r>
              <a:rPr b="0" i="1" lang="en-US" sz="1850" u="none" cap="none" strike="noStrike">
                <a:solidFill>
                  <a:srgbClr val="272525"/>
                </a:solidFill>
                <a:latin typeface="Source Sans 3"/>
                <a:ea typeface="Source Sans 3"/>
                <a:cs typeface="Source Sans 3"/>
                <a:sym typeface="Source Sans 3"/>
              </a:rPr>
              <a:t>after</a:t>
            </a:r>
            <a:r>
              <a:rPr b="0" i="0" lang="en-US" sz="1850" u="none" cap="none" strike="noStrike">
                <a:solidFill>
                  <a:srgbClr val="272525"/>
                </a:solidFill>
                <a:latin typeface="Source Sans 3"/>
                <a:ea typeface="Source Sans 3"/>
                <a:cs typeface="Source Sans 3"/>
                <a:sym typeface="Source Sans 3"/>
              </a:rPr>
              <a:t> the purchase, not just at the point of sale.</a:t>
            </a:r>
            <a:endParaRPr b="0" i="0" sz="1850" u="none" cap="none" strike="noStrike"/>
          </a:p>
        </p:txBody>
      </p:sp>
      <p:pic>
        <p:nvPicPr>
          <p:cNvPr id="96" name="Google Shape;96;p15" title="Screenshot 2026-02-05 at 11.40.37 AM.png"/>
          <p:cNvPicPr preferRelativeResize="0"/>
          <p:nvPr/>
        </p:nvPicPr>
        <p:blipFill>
          <a:blip r:embed="rId3">
            <a:alphaModFix/>
          </a:blip>
          <a:stretch>
            <a:fillRect/>
          </a:stretch>
        </p:blipFill>
        <p:spPr>
          <a:xfrm>
            <a:off x="11620500" y="7486641"/>
            <a:ext cx="3009900" cy="742950"/>
          </a:xfrm>
          <a:prstGeom prst="rect">
            <a:avLst/>
          </a:prstGeom>
          <a:noFill/>
          <a:ln>
            <a:noFill/>
          </a:ln>
        </p:spPr>
      </p:pic>
      <p:pic>
        <p:nvPicPr>
          <p:cNvPr id="97" name="Google Shape;97;p15" title="download-1.jpg"/>
          <p:cNvPicPr preferRelativeResize="0"/>
          <p:nvPr/>
        </p:nvPicPr>
        <p:blipFill>
          <a:blip r:embed="rId4">
            <a:alphaModFix/>
          </a:blip>
          <a:stretch>
            <a:fillRect/>
          </a:stretch>
        </p:blipFill>
        <p:spPr>
          <a:xfrm>
            <a:off x="152400" y="152400"/>
            <a:ext cx="5229200" cy="3524450"/>
          </a:xfrm>
          <a:prstGeom prst="rect">
            <a:avLst/>
          </a:prstGeom>
          <a:noFill/>
          <a:ln>
            <a:noFill/>
          </a:ln>
        </p:spPr>
      </p:pic>
      <p:pic>
        <p:nvPicPr>
          <p:cNvPr id="98" name="Google Shape;98;p15" title="download-2.jpg"/>
          <p:cNvPicPr preferRelativeResize="0"/>
          <p:nvPr/>
        </p:nvPicPr>
        <p:blipFill>
          <a:blip r:embed="rId5">
            <a:alphaModFix/>
          </a:blip>
          <a:stretch>
            <a:fillRect/>
          </a:stretch>
        </p:blipFill>
        <p:spPr>
          <a:xfrm>
            <a:off x="152400" y="3829250"/>
            <a:ext cx="4988800" cy="39950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p:nvPr/>
        </p:nvSpPr>
        <p:spPr>
          <a:xfrm>
            <a:off x="837725" y="2040850"/>
            <a:ext cx="7299300" cy="5634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D73AD7"/>
              </a:buClr>
              <a:buSzPts val="3500"/>
              <a:buFont typeface="Source Serif 4"/>
              <a:buNone/>
            </a:pPr>
            <a:r>
              <a:rPr b="1" i="0" lang="en-US" sz="3500" u="none" cap="none" strike="noStrike">
                <a:solidFill>
                  <a:srgbClr val="D73AD7"/>
                </a:solidFill>
                <a:latin typeface="Source Serif 4"/>
                <a:ea typeface="Source Serif 4"/>
                <a:cs typeface="Source Serif 4"/>
                <a:sym typeface="Source Serif 4"/>
              </a:rPr>
              <a:t>Reflection: Did It Work?</a:t>
            </a:r>
            <a:endParaRPr b="1" i="0" sz="3500" u="none" cap="none" strike="noStrike"/>
          </a:p>
        </p:txBody>
      </p:sp>
      <p:sp>
        <p:nvSpPr>
          <p:cNvPr id="105" name="Google Shape;105;p16"/>
          <p:cNvSpPr/>
          <p:nvPr/>
        </p:nvSpPr>
        <p:spPr>
          <a:xfrm>
            <a:off x="837724" y="3082885"/>
            <a:ext cx="12954952"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b="0" i="0" lang="en-US" sz="1850" u="none" cap="none" strike="noStrike">
                <a:solidFill>
                  <a:srgbClr val="272525"/>
                </a:solidFill>
                <a:latin typeface="Source Sans 3"/>
                <a:ea typeface="Source Sans 3"/>
                <a:cs typeface="Source Sans 3"/>
                <a:sym typeface="Source Sans 3"/>
              </a:rPr>
              <a:t>Yes, it worked.</a:t>
            </a:r>
            <a:endParaRPr b="0" i="0" sz="1850" u="none" cap="none" strike="noStrike"/>
          </a:p>
        </p:txBody>
      </p:sp>
      <p:sp>
        <p:nvSpPr>
          <p:cNvPr id="106" name="Google Shape;106;p16"/>
          <p:cNvSpPr/>
          <p:nvPr/>
        </p:nvSpPr>
        <p:spPr>
          <a:xfrm>
            <a:off x="837724" y="3735110"/>
            <a:ext cx="12954952"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b="0" i="0" lang="en-US" sz="1850" u="none" cap="none" strike="noStrike">
                <a:solidFill>
                  <a:srgbClr val="272525"/>
                </a:solidFill>
                <a:latin typeface="Source Sans 3"/>
                <a:ea typeface="Source Sans 3"/>
                <a:cs typeface="Source Sans 3"/>
                <a:sym typeface="Source Sans 3"/>
              </a:rPr>
              <a:t>Glossier managed to stay minimal while still being highly visible. Instead of relying on loud storefronts or heavy branding, the brand let its customers carry the identity for them.</a:t>
            </a:r>
            <a:endParaRPr b="0" i="0" sz="1850" u="none" cap="none" strike="noStrike"/>
          </a:p>
        </p:txBody>
      </p:sp>
      <p:sp>
        <p:nvSpPr>
          <p:cNvPr id="107" name="Google Shape;107;p16"/>
          <p:cNvSpPr/>
          <p:nvPr/>
        </p:nvSpPr>
        <p:spPr>
          <a:xfrm>
            <a:off x="837724" y="4770358"/>
            <a:ext cx="12954952"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b="0" i="0" lang="en-US" sz="1850" u="none" cap="none" strike="noStrike">
                <a:solidFill>
                  <a:srgbClr val="272525"/>
                </a:solidFill>
                <a:latin typeface="Source Sans 3"/>
                <a:ea typeface="Source Sans 3"/>
                <a:cs typeface="Source Sans 3"/>
                <a:sym typeface="Source Sans 3"/>
              </a:rPr>
              <a:t>If anything, Glossier shows how design can create recognition and belonging without needing excess.</a:t>
            </a:r>
            <a:endParaRPr b="0" i="0" sz="1850" u="none" cap="none" strike="noStrike"/>
          </a:p>
        </p:txBody>
      </p:sp>
      <p:sp>
        <p:nvSpPr>
          <p:cNvPr id="108" name="Google Shape;108;p16"/>
          <p:cNvSpPr/>
          <p:nvPr/>
        </p:nvSpPr>
        <p:spPr>
          <a:xfrm>
            <a:off x="837724" y="5422583"/>
            <a:ext cx="12954952"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b="0" i="0" lang="en-US" sz="1850" u="none" cap="none" strike="noStrike">
                <a:solidFill>
                  <a:srgbClr val="272525"/>
                </a:solidFill>
                <a:latin typeface="Source Sans 3"/>
                <a:ea typeface="Source Sans 3"/>
                <a:cs typeface="Source Sans 3"/>
                <a:sym typeface="Source Sans 3"/>
              </a:rPr>
              <a:t>What could have been done differently is expanding inclusivity earlier and adapting more quickly to changes in beauty culture, but the core design strategy was extremely strong.</a:t>
            </a:r>
            <a:endParaRPr b="0" i="0" sz="1850" u="none" cap="none" strike="noStrike"/>
          </a:p>
        </p:txBody>
      </p:sp>
      <p:pic>
        <p:nvPicPr>
          <p:cNvPr id="109" name="Google Shape;109;p16" title="Screenshot 2026-02-05 at 11.40.37 AM.png"/>
          <p:cNvPicPr preferRelativeResize="0"/>
          <p:nvPr/>
        </p:nvPicPr>
        <p:blipFill>
          <a:blip r:embed="rId3">
            <a:alphaModFix/>
          </a:blip>
          <a:stretch>
            <a:fillRect/>
          </a:stretch>
        </p:blipFill>
        <p:spPr>
          <a:xfrm>
            <a:off x="11620500" y="7486641"/>
            <a:ext cx="3009900" cy="7429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7"/>
          <p:cNvSpPr/>
          <p:nvPr/>
        </p:nvSpPr>
        <p:spPr>
          <a:xfrm>
            <a:off x="837724" y="2091809"/>
            <a:ext cx="4505920" cy="563285"/>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D73AD7"/>
              </a:buClr>
              <a:buSzPts val="3500"/>
              <a:buFont typeface="Source Serif 4"/>
              <a:buNone/>
            </a:pPr>
            <a:r>
              <a:rPr b="1" i="0" lang="en-US" sz="3500" u="none" cap="none" strike="noStrike">
                <a:solidFill>
                  <a:srgbClr val="D73AD7"/>
                </a:solidFill>
                <a:latin typeface="Source Serif 4"/>
                <a:ea typeface="Source Serif 4"/>
                <a:cs typeface="Source Serif 4"/>
                <a:sym typeface="Source Serif 4"/>
              </a:rPr>
              <a:t>Final Takeaway</a:t>
            </a:r>
            <a:endParaRPr b="1" i="0" sz="3500" u="none" cap="none" strike="noStrike"/>
          </a:p>
        </p:txBody>
      </p:sp>
      <p:sp>
        <p:nvSpPr>
          <p:cNvPr id="116" name="Google Shape;116;p17"/>
          <p:cNvSpPr/>
          <p:nvPr/>
        </p:nvSpPr>
        <p:spPr>
          <a:xfrm>
            <a:off x="837724" y="3133844"/>
            <a:ext cx="12954952" cy="38302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b="0" i="0" lang="en-US" sz="1850" u="none" cap="none" strike="noStrike">
                <a:solidFill>
                  <a:srgbClr val="272525"/>
                </a:solidFill>
                <a:latin typeface="Source Sans 3"/>
                <a:ea typeface="Source Sans 3"/>
                <a:cs typeface="Source Sans 3"/>
                <a:sym typeface="Source Sans 3"/>
              </a:rPr>
              <a:t>Glossier proves that:</a:t>
            </a:r>
            <a:endParaRPr b="0" i="0" sz="1850" u="none" cap="none" strike="noStrike"/>
          </a:p>
        </p:txBody>
      </p:sp>
      <p:sp>
        <p:nvSpPr>
          <p:cNvPr id="117" name="Google Shape;117;p17"/>
          <p:cNvSpPr/>
          <p:nvPr/>
        </p:nvSpPr>
        <p:spPr>
          <a:xfrm>
            <a:off x="837724" y="3786068"/>
            <a:ext cx="12954952" cy="1149028"/>
          </a:xfrm>
          <a:prstGeom prst="rect">
            <a:avLst/>
          </a:prstGeom>
          <a:noFill/>
          <a:ln>
            <a:noFill/>
          </a:ln>
        </p:spPr>
        <p:txBody>
          <a:bodyPr anchorCtr="0" anchor="t" bIns="0" lIns="0" spcFirstLastPara="1" rIns="0" wrap="square" tIns="0">
            <a:noAutofit/>
          </a:bodyPr>
          <a:lstStyle/>
          <a:p>
            <a:pPr indent="-342900" lvl="0" marL="342900" marR="0" rtl="0" algn="l">
              <a:lnSpc>
                <a:spcPct val="162162"/>
              </a:lnSpc>
              <a:spcBef>
                <a:spcPts val="0"/>
              </a:spcBef>
              <a:spcAft>
                <a:spcPts val="0"/>
              </a:spcAft>
              <a:buClr>
                <a:srgbClr val="272525"/>
              </a:buClr>
              <a:buSzPts val="1850"/>
              <a:buFont typeface="Source Sans 3"/>
              <a:buChar char="•"/>
            </a:pPr>
            <a:r>
              <a:rPr b="0" i="0" lang="en-US" sz="1850" u="none" cap="none" strike="noStrike">
                <a:solidFill>
                  <a:srgbClr val="272525"/>
                </a:solidFill>
                <a:latin typeface="Source Sans 3"/>
                <a:ea typeface="Source Sans 3"/>
                <a:cs typeface="Source Sans 3"/>
                <a:sym typeface="Source Sans 3"/>
              </a:rPr>
              <a:t>Visibility doesn't have to come from architecture</a:t>
            </a:r>
            <a:endParaRPr b="0" i="0" sz="1850" u="none" cap="none" strike="noStrike"/>
          </a:p>
          <a:p>
            <a:pPr indent="-342900" lvl="0" marL="342900" marR="0" rtl="0" algn="l">
              <a:lnSpc>
                <a:spcPct val="162162"/>
              </a:lnSpc>
              <a:spcBef>
                <a:spcPts val="0"/>
              </a:spcBef>
              <a:spcAft>
                <a:spcPts val="0"/>
              </a:spcAft>
              <a:buClr>
                <a:srgbClr val="272525"/>
              </a:buClr>
              <a:buSzPts val="1850"/>
              <a:buFont typeface="Source Sans 3"/>
              <a:buChar char="•"/>
            </a:pPr>
            <a:r>
              <a:rPr b="0" i="0" lang="en-US" sz="1850" u="none" cap="none" strike="noStrike">
                <a:solidFill>
                  <a:srgbClr val="272525"/>
                </a:solidFill>
                <a:latin typeface="Source Sans 3"/>
                <a:ea typeface="Source Sans 3"/>
                <a:cs typeface="Source Sans 3"/>
                <a:sym typeface="Source Sans 3"/>
              </a:rPr>
              <a:t>Packaging can function as wayfinding</a:t>
            </a:r>
            <a:endParaRPr b="0" i="0" sz="1850" u="none" cap="none" strike="noStrike"/>
          </a:p>
          <a:p>
            <a:pPr indent="-342900" lvl="0" marL="342900" marR="0" rtl="0" algn="l">
              <a:lnSpc>
                <a:spcPct val="162162"/>
              </a:lnSpc>
              <a:spcBef>
                <a:spcPts val="0"/>
              </a:spcBef>
              <a:spcAft>
                <a:spcPts val="0"/>
              </a:spcAft>
              <a:buClr>
                <a:srgbClr val="272525"/>
              </a:buClr>
              <a:buSzPts val="1850"/>
              <a:buFont typeface="Source Sans 3"/>
              <a:buChar char="•"/>
            </a:pPr>
            <a:r>
              <a:rPr b="0" i="0" lang="en-US" sz="1850" u="none" cap="none" strike="noStrike">
                <a:solidFill>
                  <a:srgbClr val="272525"/>
                </a:solidFill>
                <a:latin typeface="Source Sans 3"/>
                <a:ea typeface="Source Sans 3"/>
                <a:cs typeface="Source Sans 3"/>
                <a:sym typeface="Source Sans 3"/>
              </a:rPr>
              <a:t>Ownership can become identity</a:t>
            </a:r>
            <a:endParaRPr b="0" i="0" sz="1850" u="none" cap="none" strike="noStrike"/>
          </a:p>
        </p:txBody>
      </p:sp>
      <p:sp>
        <p:nvSpPr>
          <p:cNvPr id="118" name="Google Shape;118;p17"/>
          <p:cNvSpPr/>
          <p:nvPr/>
        </p:nvSpPr>
        <p:spPr>
          <a:xfrm>
            <a:off x="837724" y="5204297"/>
            <a:ext cx="12954952"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272525"/>
              </a:buClr>
              <a:buSzPts val="1850"/>
              <a:buFont typeface="Source Sans 3"/>
              <a:buNone/>
            </a:pPr>
            <a:r>
              <a:rPr b="0" i="0" lang="en-US" sz="1850" u="none" cap="none" strike="noStrike">
                <a:solidFill>
                  <a:srgbClr val="272525"/>
                </a:solidFill>
                <a:latin typeface="Source Sans 3"/>
                <a:ea typeface="Source Sans 3"/>
                <a:cs typeface="Source Sans 3"/>
                <a:sym typeface="Source Sans 3"/>
              </a:rPr>
              <a:t>By separating the store from the signal, Glossier used design to turn everyday people into moving landmarks — and that's what made the brand feel everywhere.</a:t>
            </a:r>
            <a:endParaRPr b="0" i="0" sz="1850" u="none" cap="none" strike="noStrike"/>
          </a:p>
        </p:txBody>
      </p:sp>
      <p:pic>
        <p:nvPicPr>
          <p:cNvPr id="119" name="Google Shape;119;p17" title="Screenshot 2026-02-05 at 11.40.37 AM.png"/>
          <p:cNvPicPr preferRelativeResize="0"/>
          <p:nvPr/>
        </p:nvPicPr>
        <p:blipFill>
          <a:blip r:embed="rId3">
            <a:alphaModFix/>
          </a:blip>
          <a:stretch>
            <a:fillRect/>
          </a:stretch>
        </p:blipFill>
        <p:spPr>
          <a:xfrm>
            <a:off x="11620493" y="7486641"/>
            <a:ext cx="3009900" cy="7429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